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386B"/>
          </a:solidFill>
          <a:ln/>
        </p:spPr>
      </p:sp>
      <p:pic>
        <p:nvPicPr>
          <p:cNvPr id="3" name="Image 0" descr="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274320"/>
            <a:ext cx="2651760" cy="8449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PROJECT-BASED LEARNING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457200" y="26974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PHASE-II EVALUATION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097280" y="3657600"/>
            <a:ext cx="99943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Malware Activity Monitoring System Using DSA Concepts and Object-Oriented Programming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4617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ID: DSCPP-III-2026-T310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457200" y="544068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 Era (Deemed to be University), Dehradun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62179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Session 2026–27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182880"/>
            <a:ext cx="1673352" cy="5330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096" y="41148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Mentor Details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8096" y="1435608"/>
            <a:ext cx="10661904" cy="0"/>
          </a:xfrm>
          <a:prstGeom prst="line">
            <a:avLst/>
          </a:prstGeom>
          <a:noFill/>
          <a:ln w="22225">
            <a:solidFill>
              <a:srgbClr val="1538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 — Graphic Era (Deemed to be University)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6070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2/16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EBF2FB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8745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Information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94360" y="237744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ID: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DSCPP-III-2026-T310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— USB Malware Detection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concepts with C++ OOP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09360" y="1828800"/>
            <a:ext cx="5422392" cy="2331720"/>
          </a:xfrm>
          <a:prstGeom prst="roundRect">
            <a:avLst>
              <a:gd name="adj" fmla="val 3922"/>
            </a:avLst>
          </a:prstGeom>
          <a:solidFill>
            <a:srgbClr val="EBF2FB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1874520"/>
            <a:ext cx="5148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446520" y="2377440"/>
            <a:ext cx="5166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Divyanshu Panwar (Team Lead) – 2510370085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Abhay Rai – 2510370531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7200" y="4434840"/>
            <a:ext cx="11274552" cy="1371600"/>
          </a:xfrm>
          <a:prstGeom prst="roundRect">
            <a:avLst>
              <a:gd name="adj" fmla="val 6667"/>
            </a:avLst>
          </a:prstGeom>
          <a:solidFill>
            <a:srgbClr val="EBF2FB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448056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594360" y="4983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Siddharth Thapliyal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675120" y="4983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Interactions completed:  </a:t>
            </a:r>
            <a:pPr algn="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182880"/>
            <a:ext cx="1673352" cy="5330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096" y="41148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Phase-I Recap &amp; Phase-II Focus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8096" y="1435608"/>
            <a:ext cx="10661904" cy="0"/>
          </a:xfrm>
          <a:prstGeom prst="line">
            <a:avLst/>
          </a:prstGeom>
          <a:noFill/>
          <a:ln w="22225">
            <a:solidFill>
              <a:srgbClr val="1538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 — Graphic Era (Deemed to be University)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6070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3/16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1783080"/>
            <a:ext cx="11274552" cy="1325880"/>
          </a:xfrm>
          <a:prstGeom prst="roundRect">
            <a:avLst>
              <a:gd name="adj" fmla="val 6897"/>
            </a:avLst>
          </a:prstGeom>
          <a:solidFill>
            <a:srgbClr val="EBF2FB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82880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Phase-I Status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94360" y="2286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 lightweight, transparent USB malware monitor to overcome heavy, closed-source tools that give no visibility into why something was flagged.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8096" y="33832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in Phase-I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68096" y="3840480"/>
            <a:ext cx="5303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statement, motivation and gap analysis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and course-concept mapping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structures and C++ class design selected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00800" y="33832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in Phase-II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400800" y="3840480"/>
            <a:ext cx="5303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and architecture for all three phases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Detector, Scanner and Analyzer modules coded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Phase-II presentation and report prepared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182880"/>
            <a:ext cx="1673352" cy="5330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096" y="41148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Finalized Objectives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8096" y="1435608"/>
            <a:ext cx="10661904" cy="0"/>
          </a:xfrm>
          <a:prstGeom prst="line">
            <a:avLst/>
          </a:prstGeom>
          <a:noFill/>
          <a:ln w="22225">
            <a:solidFill>
              <a:srgbClr val="1538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 — Graphic Era (Deemed to be University)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6070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4/16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1783080"/>
            <a:ext cx="11274552" cy="1600200"/>
          </a:xfrm>
          <a:prstGeom prst="roundRect">
            <a:avLst>
              <a:gd name="adj" fmla="val 5714"/>
            </a:avLst>
          </a:prstGeom>
          <a:solidFill>
            <a:srgbClr val="EBF2FB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82880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94360" y="22860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devices can introduce suspicious files into a system, and signature-based tools can miss malicious activity triggered the moment a drive is plugged in. A simple, explainable monitor is needed to observe USB activity and flag malicious behaviour.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8096" y="3611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Finalized Objectives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68096" y="411480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 connected USB device and identify it (vendor ID, serial number).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the device's files using hash and signature checks.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files against a known threat list and rank alerts by severity.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all activity and raise alerts through an alert console.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182880"/>
            <a:ext cx="1673352" cy="5330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096" y="41148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System Architecture / Workflow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8096" y="1435608"/>
            <a:ext cx="10661904" cy="0"/>
          </a:xfrm>
          <a:prstGeom prst="line">
            <a:avLst/>
          </a:prstGeom>
          <a:noFill/>
          <a:ln w="22225">
            <a:solidFill>
              <a:srgbClr val="1538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 — Graphic Era (Deemed to be University)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6070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5/16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EBF2FB"/>
          </a:solidFill>
          <a:ln w="12700">
            <a:solidFill>
              <a:srgbClr val="1538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828800"/>
            <a:ext cx="19202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Events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395728" y="2308860"/>
            <a:ext cx="374904" cy="0"/>
          </a:xfrm>
          <a:prstGeom prst="line">
            <a:avLst/>
          </a:prstGeom>
          <a:noFill/>
          <a:ln w="22225">
            <a:solidFill>
              <a:srgbClr val="15386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788920" y="182880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EBF2FB"/>
          </a:solidFill>
          <a:ln w="12700">
            <a:solidFill>
              <a:srgbClr val="1538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88920" y="1828800"/>
            <a:ext cx="19202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727448" y="2308860"/>
            <a:ext cx="374904" cy="0"/>
          </a:xfrm>
          <a:prstGeom prst="line">
            <a:avLst/>
          </a:prstGeom>
          <a:noFill/>
          <a:ln w="22225">
            <a:solidFill>
              <a:srgbClr val="15386B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120640" y="182880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EBF2FB"/>
          </a:solidFill>
          <a:ln w="12700">
            <a:solidFill>
              <a:srgbClr val="1538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20640" y="1828800"/>
            <a:ext cx="19202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059168" y="2308860"/>
            <a:ext cx="374904" cy="0"/>
          </a:xfrm>
          <a:prstGeom prst="line">
            <a:avLst/>
          </a:prstGeom>
          <a:noFill/>
          <a:ln w="22225">
            <a:solidFill>
              <a:srgbClr val="15386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452360" y="182880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EBF2FB"/>
          </a:solidFill>
          <a:ln w="12700">
            <a:solidFill>
              <a:srgbClr val="1538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52360" y="1828800"/>
            <a:ext cx="19202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390888" y="2308860"/>
            <a:ext cx="374904" cy="0"/>
          </a:xfrm>
          <a:prstGeom prst="line">
            <a:avLst/>
          </a:prstGeom>
          <a:noFill/>
          <a:ln w="22225">
            <a:solidFill>
              <a:srgbClr val="15386B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784080" y="182880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EBF2FB"/>
          </a:solidFill>
          <a:ln w="12700">
            <a:solidFill>
              <a:srgbClr val="1538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784080" y="1828800"/>
            <a:ext cx="19202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Console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Activity Log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68096" y="32461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Components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768096" y="3703320"/>
            <a:ext cx="5303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Detector: identifies the device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Scanner: hash and signature checks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Analyzer: matches threats, ranks severity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table, queue, priority queue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400800" y="32461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Since Phase-I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6400800" y="3703320"/>
            <a:ext cx="5303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split into three modules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USB events and safe test files (EICAR) for development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queue for high-risk alerts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182880"/>
            <a:ext cx="1673352" cy="5330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096" y="41148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Design &amp; Functional Requirements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8096" y="1435608"/>
            <a:ext cx="10661904" cy="0"/>
          </a:xfrm>
          <a:prstGeom prst="line">
            <a:avLst/>
          </a:prstGeom>
          <a:noFill/>
          <a:ln w="22225">
            <a:solidFill>
              <a:srgbClr val="1538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 — Graphic Era (Deemed to be University)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6070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6/16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8096" y="1783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Modules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68096" y="224028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 — identify device (vendor ID, serial)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— hash and signature check of files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 — match threat list, rank severity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console &amp; activity log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0" y="1783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Requirements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400800" y="224028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 device when it is plugged in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files without freezing the program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threat lookup using a hash table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high-risk alerts first (priority queue)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4754880"/>
            <a:ext cx="11274552" cy="1508760"/>
          </a:xfrm>
          <a:prstGeom prst="roundRect">
            <a:avLst>
              <a:gd name="adj" fmla="val 6061"/>
            </a:avLst>
          </a:prstGeom>
          <a:solidFill>
            <a:srgbClr val="EBF2FB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480060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Dependency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94360" y="5257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 output feeds the Scanner; scan results feed the Analyzer, which raises alerts and writes the activity log. Queues manage incoming events and scan jobs between modules.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182880"/>
            <a:ext cx="1673352" cy="5330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096" y="41148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&amp; Development Methodology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8096" y="1435608"/>
            <a:ext cx="10661904" cy="0"/>
          </a:xfrm>
          <a:prstGeom prst="line">
            <a:avLst/>
          </a:prstGeom>
          <a:noFill/>
          <a:ln w="22225">
            <a:solidFill>
              <a:srgbClr val="1538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 — Graphic Era (Deemed to be University)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6070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7/16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5577840" cy="3383280"/>
          </a:xfrm>
          <a:prstGeom prst="roundRect">
            <a:avLst>
              <a:gd name="adj" fmla="val 2703"/>
            </a:avLst>
          </a:prstGeom>
          <a:solidFill>
            <a:srgbClr val="EBF2FB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8745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94360" y="2377440"/>
            <a:ext cx="5303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Programming: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and C++ (OOP layer)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structures: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table, queue, priority queue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Interface: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application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tools: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/ Code::Blocks, GCC/G++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control: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/ GitHub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09360" y="1828800"/>
            <a:ext cx="5422392" cy="3383280"/>
          </a:xfrm>
          <a:prstGeom prst="roundRect">
            <a:avLst>
              <a:gd name="adj" fmla="val 2703"/>
            </a:avLst>
          </a:prstGeom>
          <a:solidFill>
            <a:srgbClr val="EBF2FB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1874520"/>
            <a:ext cx="5148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Methodology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446520" y="2377440"/>
            <a:ext cx="5166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Analysis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Development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Validation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8096" y="5440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stage: Module Development (code written); Integration and Testing pending.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182880"/>
            <a:ext cx="1673352" cy="5330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096" y="41148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of PBL Course Concepts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8096" y="1435608"/>
            <a:ext cx="10661904" cy="0"/>
          </a:xfrm>
          <a:prstGeom prst="line">
            <a:avLst/>
          </a:prstGeom>
          <a:noFill/>
          <a:ln w="22225">
            <a:solidFill>
              <a:srgbClr val="1538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 — Graphic Era (Deemed to be University)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6070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8/16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" y="1920240"/>
          <a:ext cx="10661904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572000"/>
                <a:gridCol w="3438144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Concepts Applied (in code)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Module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Structures in 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 table, queue, priority queue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 lookup, event &amp; scan queues, alert ordering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OOPs with C++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Classes, objects, encapsulation, inheritance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Detector, Scanner, Analyzer classes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1554480" y="4754880"/>
            <a:ext cx="9052560" cy="685800"/>
          </a:xfrm>
          <a:prstGeom prst="rect">
            <a:avLst/>
          </a:prstGeom>
          <a:solidFill>
            <a:srgbClr val="EBF2FB"/>
          </a:solidFill>
          <a:ln/>
        </p:spPr>
      </p:sp>
      <p:sp>
        <p:nvSpPr>
          <p:cNvPr id="9" name="Text 5"/>
          <p:cNvSpPr/>
          <p:nvPr/>
        </p:nvSpPr>
        <p:spPr>
          <a:xfrm>
            <a:off x="1554480" y="4754880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</a:t>
            </a:r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listed are written in code; testing is pending.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182880"/>
            <a:ext cx="1673352" cy="5330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096" y="41148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&amp; Implementation Progress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8096" y="1435608"/>
            <a:ext cx="10661904" cy="0"/>
          </a:xfrm>
          <a:prstGeom prst="line">
            <a:avLst/>
          </a:prstGeom>
          <a:noFill/>
          <a:ln w="22225">
            <a:solidFill>
              <a:srgbClr val="1538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 — Graphic Era (Deemed to be University)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6070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9/16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" y="1828800"/>
          <a:ext cx="10661904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286000"/>
                <a:gridCol w="5266944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Completed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written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Device identification logic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Scanner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written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 and signature check logic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written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 matching and severity ranking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 console &amp; log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be built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Joining modules into one system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1554480" y="5349240"/>
            <a:ext cx="9052560" cy="685800"/>
          </a:xfrm>
          <a:prstGeom prst="rect">
            <a:avLst/>
          </a:prstGeom>
          <a:solidFill>
            <a:srgbClr val="EBF2FB"/>
          </a:solidFill>
          <a:ln/>
        </p:spPr>
      </p:sp>
      <p:sp>
        <p:nvSpPr>
          <p:cNvPr id="9" name="Text 5"/>
          <p:cNvSpPr/>
          <p:nvPr/>
        </p:nvSpPr>
        <p:spPr>
          <a:xfrm>
            <a:off x="1554480" y="5349240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Overall: </a:t>
            </a:r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code written; testing and integration pending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182880"/>
            <a:ext cx="1673352" cy="5330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096" y="41148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/ Demonstration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8096" y="1435608"/>
            <a:ext cx="10661904" cy="0"/>
          </a:xfrm>
          <a:prstGeom prst="line">
            <a:avLst/>
          </a:prstGeom>
          <a:noFill/>
          <a:ln w="22225">
            <a:solidFill>
              <a:srgbClr val="1538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 — Graphic Era (Deemed to be University)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6070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10/16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8096" y="18288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So Far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68096" y="23317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 module code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module code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 module code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USB events and EICAR test file planned for demo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5330952" cy="3931920"/>
          </a:xfrm>
          <a:prstGeom prst="roundRect">
            <a:avLst>
              <a:gd name="adj" fmla="val 2326"/>
            </a:avLst>
          </a:prstGeom>
          <a:solidFill>
            <a:srgbClr val="EBF2FB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1874520"/>
            <a:ext cx="5056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/ Output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583680" y="2468880"/>
            <a:ext cx="4965192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and live demo will be added after integration and testing.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182880"/>
            <a:ext cx="1673352" cy="5330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096" y="41148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Results &amp; Validation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8096" y="1435608"/>
            <a:ext cx="10661904" cy="0"/>
          </a:xfrm>
          <a:prstGeom prst="line">
            <a:avLst/>
          </a:prstGeom>
          <a:noFill/>
          <a:ln w="22225">
            <a:solidFill>
              <a:srgbClr val="1538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 — Graphic Era (Deemed to be University)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6070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11/16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" y="1828800"/>
          <a:ext cx="10661904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566160"/>
                <a:gridCol w="2560320"/>
                <a:gridCol w="2157984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/ Module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Result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Observed Result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Device identified on insertion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 tested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Scanner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EICAR file detected by hash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 tested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Alerts ranked by severity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 tested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572000"/>
            <a:ext cx="11274552" cy="1691640"/>
          </a:xfrm>
          <a:prstGeom prst="roundRect">
            <a:avLst>
              <a:gd name="adj" fmla="val 5405"/>
            </a:avLst>
          </a:prstGeom>
          <a:solidFill>
            <a:srgbClr val="EBF2FB"/>
          </a:solidFill>
          <a:ln/>
        </p:spPr>
      </p:sp>
      <p:sp>
        <p:nvSpPr>
          <p:cNvPr id="9" name="Text 5"/>
          <p:cNvSpPr/>
          <p:nvPr/>
        </p:nvSpPr>
        <p:spPr>
          <a:xfrm>
            <a:off x="594360" y="461772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/ Validation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594360" y="50749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has not started. Plan: validate each module with simulated USB events and safe sample files, then test the full flow and edge cases.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182880"/>
            <a:ext cx="1673352" cy="5330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096" y="41148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 &amp; Codebase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8096" y="1435608"/>
            <a:ext cx="10661904" cy="0"/>
          </a:xfrm>
          <a:prstGeom prst="line">
            <a:avLst/>
          </a:prstGeom>
          <a:noFill/>
          <a:ln w="22225">
            <a:solidFill>
              <a:srgbClr val="1538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 — Graphic Era (Deemed to be University)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6070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12/16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8096" y="18288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Information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68096" y="233172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link: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github.com/divyanshupanwar7895-lang/PBL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and C++ (OOP)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source code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0" y="18288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 Overview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400800" y="23317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Security-oriented system that monitors activity of USB devices connected to a computer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for system-level and file operations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OOP for modular, structured development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182880"/>
            <a:ext cx="1673352" cy="5330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096" y="41148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Contribution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8096" y="1435608"/>
            <a:ext cx="10661904" cy="0"/>
          </a:xfrm>
          <a:prstGeom prst="line">
            <a:avLst/>
          </a:prstGeom>
          <a:noFill/>
          <a:ln w="22225">
            <a:solidFill>
              <a:srgbClr val="1538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 — Graphic Era (Deemed to be University)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6070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13/16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" y="1828800"/>
          <a:ext cx="10661904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6455664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Contribution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Divyanshu Panwar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Lead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coordination and data collection; problem identification, architecture diagram, concepts, Phase-II presentation and report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Abhay Rai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Member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 formation; problem identification, architecture diagram, concepts, Phase-II presentation and report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846320"/>
            <a:ext cx="11274552" cy="1463040"/>
          </a:xfrm>
          <a:prstGeom prst="roundRect">
            <a:avLst>
              <a:gd name="adj" fmla="val 6250"/>
            </a:avLst>
          </a:prstGeom>
          <a:solidFill>
            <a:srgbClr val="EBF2FB"/>
          </a:solidFill>
          <a:ln/>
        </p:spPr>
      </p:sp>
      <p:sp>
        <p:nvSpPr>
          <p:cNvPr id="9" name="Text 5"/>
          <p:cNvSpPr/>
          <p:nvPr/>
        </p:nvSpPr>
        <p:spPr>
          <a:xfrm>
            <a:off x="594360" y="489204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(both members)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594360" y="5394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module integration, bug fixing, faster scanning, Phase-III report and presentation, and the final demo.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182880"/>
            <a:ext cx="1673352" cy="5330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096" y="41148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Challenges, Remaining Work &amp; Phase-III Roadmap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8096" y="1435608"/>
            <a:ext cx="10661904" cy="0"/>
          </a:xfrm>
          <a:prstGeom prst="line">
            <a:avLst/>
          </a:prstGeom>
          <a:noFill/>
          <a:ln w="22225">
            <a:solidFill>
              <a:srgbClr val="1538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 — Graphic Era (Deemed to be University)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6070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14/16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8096" y="1783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Faced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68096" y="224028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or finding a good threat list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right data structure for each module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 large drives without freezing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rights needed to read or block devices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USB events across Windows and Linux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matching only catches known threats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0" y="1783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Phase-III Roadmap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400800" y="224028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alert console and activity log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each module and fix bugs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all modules into one system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full flow and edge cases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demo, report and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182880"/>
            <a:ext cx="1673352" cy="5330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096" y="41148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 &amp; References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8096" y="1435608"/>
            <a:ext cx="10661904" cy="0"/>
          </a:xfrm>
          <a:prstGeom prst="line">
            <a:avLst/>
          </a:prstGeom>
          <a:noFill/>
          <a:ln w="22225">
            <a:solidFill>
              <a:srgbClr val="1538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 — Graphic Era (Deemed to be University)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60704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15/16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8096" y="1783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Final Outcomes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68096" y="224028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monitor that identifies a USB device, scans its files and compares them to a known threat list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files ranked by severity, shown as alerts and saved in a log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Serious threats blocked automatically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0" y="1783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400800" y="224028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GeeksforGeeks — data structure guides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Deitel &amp; Deitel, C++ How to Program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USBGuard project documentation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SP 800-83 — Malware Incident Prevention and Handling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386B"/>
          </a:solidFill>
          <a:ln/>
        </p:spPr>
      </p:sp>
      <p:pic>
        <p:nvPicPr>
          <p:cNvPr id="3" name="Image 0" descr="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0248" y="822960"/>
            <a:ext cx="3657600" cy="116494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926080" y="2514600"/>
            <a:ext cx="6336792" cy="1463040"/>
          </a:xfrm>
          <a:prstGeom prst="rect">
            <a:avLst/>
          </a:prstGeom>
          <a:solidFill>
            <a:srgbClr val="15386B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0" y="2514600"/>
            <a:ext cx="63367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8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Suggestions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097280" y="4434840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Malware Activity Monitoring System Using DSA Concepts and Object-Oriented Programming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5349240"/>
            <a:ext cx="9994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3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DSCPP-III-2026-T310  ·  Divyanshu Panwar &amp; Abhay Rai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576072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Mentor: Siddharth Thapliyal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2026-10-10T10:07:54Z</dcterms:created>
  <dcterms:modified xsi:type="dcterms:W3CDTF">2026-10-10T10:07:54Z</dcterms:modified>
</cp:coreProperties>
</file>